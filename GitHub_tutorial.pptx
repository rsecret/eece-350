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>
      <p:cViewPr varScale="1">
        <p:scale>
          <a:sx n="78" d="100"/>
          <a:sy n="78" d="100"/>
        </p:scale>
        <p:origin x="110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97832" y="2679903"/>
            <a:ext cx="3196335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2270760"/>
          </a:xfrm>
          <a:custGeom>
            <a:avLst/>
            <a:gdLst/>
            <a:ahLst/>
            <a:cxnLst/>
            <a:rect l="l" t="t" r="r" b="b"/>
            <a:pathLst>
              <a:path w="12192000" h="2270760">
                <a:moveTo>
                  <a:pt x="12192000" y="0"/>
                </a:moveTo>
                <a:lnTo>
                  <a:pt x="0" y="0"/>
                </a:lnTo>
                <a:lnTo>
                  <a:pt x="0" y="1750822"/>
                </a:lnTo>
                <a:lnTo>
                  <a:pt x="240309" y="1791589"/>
                </a:lnTo>
                <a:lnTo>
                  <a:pt x="395046" y="1816735"/>
                </a:lnTo>
                <a:lnTo>
                  <a:pt x="797864" y="1875282"/>
                </a:lnTo>
                <a:lnTo>
                  <a:pt x="1039799" y="1908937"/>
                </a:lnTo>
                <a:lnTo>
                  <a:pt x="1312418" y="1944242"/>
                </a:lnTo>
                <a:lnTo>
                  <a:pt x="1609598" y="1981708"/>
                </a:lnTo>
                <a:lnTo>
                  <a:pt x="1932558" y="2019300"/>
                </a:lnTo>
                <a:lnTo>
                  <a:pt x="2276475" y="2057400"/>
                </a:lnTo>
                <a:lnTo>
                  <a:pt x="2647315" y="2092833"/>
                </a:lnTo>
                <a:lnTo>
                  <a:pt x="3035427" y="2126741"/>
                </a:lnTo>
                <a:lnTo>
                  <a:pt x="3445637" y="2157603"/>
                </a:lnTo>
                <a:lnTo>
                  <a:pt x="3872991" y="2187066"/>
                </a:lnTo>
                <a:lnTo>
                  <a:pt x="4318762" y="2214753"/>
                </a:lnTo>
                <a:lnTo>
                  <a:pt x="4547235" y="2224532"/>
                </a:lnTo>
                <a:lnTo>
                  <a:pt x="4780534" y="2235327"/>
                </a:lnTo>
                <a:lnTo>
                  <a:pt x="5017643" y="2245487"/>
                </a:lnTo>
                <a:lnTo>
                  <a:pt x="5255895" y="2252217"/>
                </a:lnTo>
                <a:lnTo>
                  <a:pt x="5744591" y="2264410"/>
                </a:lnTo>
                <a:lnTo>
                  <a:pt x="5995162" y="2268601"/>
                </a:lnTo>
                <a:lnTo>
                  <a:pt x="6248146" y="2268601"/>
                </a:lnTo>
                <a:lnTo>
                  <a:pt x="6503543" y="2270760"/>
                </a:lnTo>
                <a:lnTo>
                  <a:pt x="6761480" y="2268601"/>
                </a:lnTo>
                <a:lnTo>
                  <a:pt x="7023100" y="2264410"/>
                </a:lnTo>
                <a:lnTo>
                  <a:pt x="7284593" y="2260600"/>
                </a:lnTo>
                <a:lnTo>
                  <a:pt x="7549896" y="2252217"/>
                </a:lnTo>
                <a:lnTo>
                  <a:pt x="7817611" y="2243454"/>
                </a:lnTo>
                <a:lnTo>
                  <a:pt x="8085328" y="2233295"/>
                </a:lnTo>
                <a:lnTo>
                  <a:pt x="8355583" y="2218944"/>
                </a:lnTo>
                <a:lnTo>
                  <a:pt x="8628126" y="2201799"/>
                </a:lnTo>
                <a:lnTo>
                  <a:pt x="8902065" y="2185289"/>
                </a:lnTo>
                <a:lnTo>
                  <a:pt x="9175877" y="2164207"/>
                </a:lnTo>
                <a:lnTo>
                  <a:pt x="9453499" y="2139061"/>
                </a:lnTo>
                <a:lnTo>
                  <a:pt x="9727311" y="2113788"/>
                </a:lnTo>
                <a:lnTo>
                  <a:pt x="10006076" y="2084704"/>
                </a:lnTo>
                <a:lnTo>
                  <a:pt x="10286111" y="2052827"/>
                </a:lnTo>
                <a:lnTo>
                  <a:pt x="10562463" y="2019300"/>
                </a:lnTo>
                <a:lnTo>
                  <a:pt x="10842371" y="1980057"/>
                </a:lnTo>
                <a:lnTo>
                  <a:pt x="11121136" y="1938020"/>
                </a:lnTo>
                <a:lnTo>
                  <a:pt x="11401171" y="1896237"/>
                </a:lnTo>
                <a:lnTo>
                  <a:pt x="11679936" y="1847596"/>
                </a:lnTo>
                <a:lnTo>
                  <a:pt x="11957558" y="1797812"/>
                </a:lnTo>
                <a:lnTo>
                  <a:pt x="12192000" y="175399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70603" y="0"/>
            <a:ext cx="8118348" cy="22707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6069" y="882218"/>
            <a:ext cx="1126172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7474" y="2203255"/>
            <a:ext cx="11157051" cy="3822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497832" y="2743200"/>
            <a:ext cx="319633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EECE</a:t>
            </a:r>
            <a:r>
              <a:rPr sz="6000" spc="-175" dirty="0"/>
              <a:t> </a:t>
            </a:r>
            <a:r>
              <a:rPr lang="en-US" sz="6000" spc="-20" dirty="0"/>
              <a:t>350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3260089" y="3962400"/>
            <a:ext cx="567182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GIT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GITHUB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 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QUICK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GUIDE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endParaRPr lang="en-US" spc="-25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5615">
              <a:lnSpc>
                <a:spcPct val="100000"/>
              </a:lnSpc>
              <a:spcBef>
                <a:spcPts val="100"/>
              </a:spcBef>
            </a:pPr>
            <a:r>
              <a:rPr dirty="0"/>
              <a:t>SOURCE</a:t>
            </a:r>
            <a:r>
              <a:rPr spc="-110" dirty="0"/>
              <a:t> </a:t>
            </a:r>
            <a:r>
              <a:rPr dirty="0"/>
              <a:t>CONTROL</a:t>
            </a:r>
            <a:r>
              <a:rPr spc="-9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366518"/>
            <a:ext cx="10487025" cy="365696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99085" marR="153670" indent="-287020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b="1" spc="-10" dirty="0">
                <a:latin typeface="Calibri"/>
                <a:cs typeface="Calibri"/>
              </a:rPr>
              <a:t>Version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Control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Systems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(VCS)</a:t>
            </a:r>
            <a:r>
              <a:rPr sz="2600" b="1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manage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changes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code </a:t>
            </a:r>
            <a:r>
              <a:rPr sz="2600" dirty="0">
                <a:latin typeface="Calibri"/>
                <a:cs typeface="Calibri"/>
              </a:rPr>
              <a:t>over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time.</a:t>
            </a:r>
            <a:endParaRPr sz="2600">
              <a:latin typeface="Calibri"/>
              <a:cs typeface="Calibri"/>
            </a:endParaRPr>
          </a:p>
          <a:p>
            <a:pPr marL="299085" marR="53975" indent="-287020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b="1" i="1" dirty="0">
                <a:latin typeface="Calibri"/>
                <a:cs typeface="Calibri"/>
              </a:rPr>
              <a:t>Git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free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open-</a:t>
            </a:r>
            <a:r>
              <a:rPr sz="2600" dirty="0">
                <a:latin typeface="Calibri"/>
                <a:cs typeface="Calibri"/>
              </a:rPr>
              <a:t>source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distributed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version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control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meaning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it </a:t>
            </a:r>
            <a:r>
              <a:rPr sz="2600" dirty="0">
                <a:latin typeface="Calibri"/>
                <a:cs typeface="Calibri"/>
              </a:rPr>
              <a:t>allows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multiple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users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work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same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project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simultaneously.</a:t>
            </a:r>
            <a:endParaRPr sz="2600">
              <a:latin typeface="Calibri"/>
              <a:cs typeface="Calibri"/>
            </a:endParaRPr>
          </a:p>
          <a:p>
            <a:pPr marL="299085" marR="118110" indent="-287020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99085" algn="l"/>
                <a:tab pos="4318000" algn="l"/>
              </a:tabLst>
            </a:pPr>
            <a:r>
              <a:rPr sz="2600" b="1" i="1" dirty="0">
                <a:latin typeface="Calibri"/>
                <a:cs typeface="Calibri"/>
              </a:rPr>
              <a:t>GitHub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platform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built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around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offering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centralized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host </a:t>
            </a:r>
            <a:r>
              <a:rPr sz="2600" dirty="0">
                <a:latin typeface="Calibri"/>
                <a:cs typeface="Calibri"/>
              </a:rPr>
              <a:t>Git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repositories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additional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collaboration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features.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GitHub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company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product.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is</a:t>
            </a:r>
            <a:r>
              <a:rPr sz="2600" dirty="0">
                <a:latin typeface="Calibri"/>
                <a:cs typeface="Calibri"/>
              </a:rPr>
              <a:t>	Headquartered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California,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been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subsidiary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Microsoft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since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2018.</a:t>
            </a:r>
            <a:endParaRPr sz="2600">
              <a:latin typeface="Calibri"/>
              <a:cs typeface="Calibri"/>
            </a:endParaRPr>
          </a:p>
          <a:p>
            <a:pPr marL="299085" marR="5080" indent="-287020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dirty="0">
                <a:latin typeface="Calibri"/>
                <a:cs typeface="Calibri"/>
              </a:rPr>
              <a:t>There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products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GitHub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famous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among </a:t>
            </a:r>
            <a:r>
              <a:rPr sz="2600" spc="-20" dirty="0">
                <a:latin typeface="Calibri"/>
                <a:cs typeface="Calibri"/>
              </a:rPr>
              <a:t>them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115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WHAT</a:t>
            </a:r>
            <a:r>
              <a:rPr spc="-90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spc="-20" dirty="0"/>
              <a:t>GIT?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393949"/>
            <a:ext cx="10668635" cy="37795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99085" marR="12700" indent="-28702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b="1" dirty="0">
                <a:latin typeface="Calibri"/>
                <a:cs typeface="Calibri"/>
              </a:rPr>
              <a:t>Git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version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control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system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track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source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code </a:t>
            </a:r>
            <a:r>
              <a:rPr sz="2800" dirty="0">
                <a:latin typeface="Calibri"/>
                <a:cs typeface="Calibri"/>
              </a:rPr>
              <a:t>during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development.</a:t>
            </a:r>
            <a:endParaRPr sz="2800">
              <a:latin typeface="Calibri"/>
              <a:cs typeface="Calibri"/>
            </a:endParaRPr>
          </a:p>
          <a:p>
            <a:pPr marL="299085" marR="278765" indent="-287020">
              <a:lnSpc>
                <a:spcPts val="3020"/>
              </a:lnSpc>
              <a:spcBef>
                <a:spcPts val="1020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developers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collaborate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efficiently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managing </a:t>
            </a:r>
            <a:r>
              <a:rPr sz="2800" dirty="0">
                <a:latin typeface="Calibri"/>
                <a:cs typeface="Calibri"/>
              </a:rPr>
              <a:t>changes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different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team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members.</a:t>
            </a:r>
            <a:endParaRPr sz="2800">
              <a:latin typeface="Calibri"/>
              <a:cs typeface="Calibri"/>
            </a:endParaRPr>
          </a:p>
          <a:p>
            <a:pPr marL="299085" marR="5080" indent="-287020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dirty="0">
                <a:latin typeface="Calibri"/>
                <a:cs typeface="Calibri"/>
              </a:rPr>
              <a:t>Unlike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centralized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version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control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subversion,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Git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stores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complete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copy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project's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history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developer's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machine, </a:t>
            </a:r>
            <a:r>
              <a:rPr sz="2800" dirty="0">
                <a:latin typeface="Calibri"/>
                <a:cs typeface="Calibri"/>
              </a:rPr>
              <a:t>enabling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offline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independently.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Actually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dirty="0">
                <a:latin typeface="Calibri"/>
                <a:cs typeface="Calibri"/>
              </a:rPr>
              <a:t>copy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hidden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folder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.git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start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folder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file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hidden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folders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Unix-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systems)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82290">
              <a:lnSpc>
                <a:spcPct val="100000"/>
              </a:lnSpc>
              <a:spcBef>
                <a:spcPts val="100"/>
              </a:spcBef>
            </a:pPr>
            <a:r>
              <a:rPr dirty="0"/>
              <a:t>GIT</a:t>
            </a:r>
            <a:r>
              <a:rPr spc="-60" dirty="0"/>
              <a:t> </a:t>
            </a:r>
            <a:r>
              <a:rPr spc="-10" dirty="0"/>
              <a:t>REPOSITORY</a:t>
            </a:r>
            <a:r>
              <a:rPr spc="-80" dirty="0"/>
              <a:t> </a:t>
            </a:r>
            <a:r>
              <a:rPr dirty="0"/>
              <a:t>(OR</a:t>
            </a:r>
            <a:r>
              <a:rPr spc="-45" dirty="0"/>
              <a:t> </a:t>
            </a:r>
            <a:r>
              <a:rPr spc="-10" dirty="0"/>
              <a:t>REPO)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0275" rIns="0" bIns="0" rtlCol="0">
            <a:spAutoFit/>
          </a:bodyPr>
          <a:lstStyle/>
          <a:p>
            <a:pPr marL="344805" marR="533400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45440" algn="l"/>
              </a:tabLst>
            </a:pPr>
            <a:r>
              <a:rPr dirty="0"/>
              <a:t>A</a:t>
            </a:r>
            <a:r>
              <a:rPr spc="-55" dirty="0"/>
              <a:t> </a:t>
            </a:r>
            <a:r>
              <a:rPr b="1" i="1" dirty="0">
                <a:latin typeface="Calibri"/>
                <a:cs typeface="Calibri"/>
              </a:rPr>
              <a:t>Git</a:t>
            </a:r>
            <a:r>
              <a:rPr b="1" i="1" spc="-5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repository</a:t>
            </a:r>
            <a:r>
              <a:rPr b="1" i="1" spc="-45" dirty="0">
                <a:latin typeface="Calibri"/>
                <a:cs typeface="Calibri"/>
              </a:rPr>
              <a:t> </a:t>
            </a:r>
            <a:r>
              <a:rPr dirty="0"/>
              <a:t>(or</a:t>
            </a:r>
            <a:r>
              <a:rPr spc="-65" dirty="0"/>
              <a:t> </a:t>
            </a:r>
            <a:r>
              <a:rPr dirty="0"/>
              <a:t>called</a:t>
            </a:r>
            <a:r>
              <a:rPr spc="-75" dirty="0"/>
              <a:t> </a:t>
            </a:r>
            <a:r>
              <a:rPr b="1" i="1" dirty="0">
                <a:latin typeface="Calibri"/>
                <a:cs typeface="Calibri"/>
              </a:rPr>
              <a:t>repo</a:t>
            </a:r>
            <a:r>
              <a:rPr dirty="0"/>
              <a:t>)</a:t>
            </a:r>
            <a:r>
              <a:rPr spc="-50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nothing</a:t>
            </a:r>
            <a:r>
              <a:rPr spc="-40" dirty="0"/>
              <a:t> </a:t>
            </a:r>
            <a:r>
              <a:rPr dirty="0"/>
              <a:t>but</a:t>
            </a:r>
            <a:r>
              <a:rPr spc="-5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directory</a:t>
            </a:r>
            <a:r>
              <a:rPr spc="-60" dirty="0"/>
              <a:t> </a:t>
            </a:r>
            <a:r>
              <a:rPr dirty="0"/>
              <a:t>or</a:t>
            </a:r>
            <a:r>
              <a:rPr spc="-50" dirty="0"/>
              <a:t> </a:t>
            </a:r>
            <a:r>
              <a:rPr dirty="0"/>
              <a:t>folder</a:t>
            </a:r>
            <a:r>
              <a:rPr spc="-70" dirty="0"/>
              <a:t> </a:t>
            </a:r>
            <a:r>
              <a:rPr spc="-20" dirty="0"/>
              <a:t>that </a:t>
            </a:r>
            <a:r>
              <a:rPr spc="-10" dirty="0"/>
              <a:t>contains</a:t>
            </a:r>
            <a:r>
              <a:rPr spc="-7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project's</a:t>
            </a:r>
            <a:r>
              <a:rPr spc="-70" dirty="0"/>
              <a:t> </a:t>
            </a:r>
            <a:r>
              <a:rPr dirty="0"/>
              <a:t>files</a:t>
            </a:r>
            <a:r>
              <a:rPr spc="-75" dirty="0"/>
              <a:t> </a:t>
            </a:r>
            <a:r>
              <a:rPr dirty="0"/>
              <a:t>+</a:t>
            </a:r>
            <a:r>
              <a:rPr spc="-7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entire</a:t>
            </a:r>
            <a:r>
              <a:rPr spc="-75" dirty="0"/>
              <a:t> </a:t>
            </a:r>
            <a:r>
              <a:rPr dirty="0"/>
              <a:t>revision</a:t>
            </a:r>
            <a:r>
              <a:rPr spc="-70" dirty="0"/>
              <a:t> </a:t>
            </a:r>
            <a:r>
              <a:rPr spc="-25" dirty="0"/>
              <a:t>history.</a:t>
            </a:r>
            <a:r>
              <a:rPr spc="-60" dirty="0"/>
              <a:t> </a:t>
            </a:r>
            <a:r>
              <a:rPr dirty="0"/>
              <a:t>That</a:t>
            </a:r>
            <a:r>
              <a:rPr spc="-85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spc="-25" dirty="0"/>
              <a:t>it!</a:t>
            </a:r>
          </a:p>
          <a:p>
            <a:pPr marL="344805" indent="-28638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345440" algn="l"/>
              </a:tabLst>
            </a:pPr>
            <a:r>
              <a:rPr dirty="0"/>
              <a:t>A</a:t>
            </a:r>
            <a:r>
              <a:rPr spc="-50" dirty="0"/>
              <a:t> </a:t>
            </a:r>
            <a:r>
              <a:rPr b="1" i="1" dirty="0">
                <a:latin typeface="Calibri"/>
                <a:cs typeface="Calibri"/>
              </a:rPr>
              <a:t>commit</a:t>
            </a:r>
            <a:r>
              <a:rPr b="1" i="1" spc="-50" dirty="0">
                <a:latin typeface="Calibri"/>
                <a:cs typeface="Calibri"/>
              </a:rPr>
              <a:t> </a:t>
            </a:r>
            <a:r>
              <a:rPr spc="-10" dirty="0"/>
              <a:t>represents</a:t>
            </a:r>
            <a:r>
              <a:rPr spc="-35" dirty="0"/>
              <a:t> </a:t>
            </a:r>
            <a:r>
              <a:rPr b="1" dirty="0">
                <a:latin typeface="Calibri"/>
                <a:cs typeface="Calibri"/>
              </a:rPr>
              <a:t>a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snapshot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project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at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specific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point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in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time</a:t>
            </a:r>
            <a:r>
              <a:rPr spc="-10" dirty="0"/>
              <a:t>.</a:t>
            </a:r>
          </a:p>
          <a:p>
            <a:pPr marL="344805" marR="74930" indent="-287020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345440" algn="l"/>
              </a:tabLst>
            </a:pPr>
            <a:r>
              <a:rPr dirty="0"/>
              <a:t>A</a:t>
            </a:r>
            <a:r>
              <a:rPr spc="-55" dirty="0"/>
              <a:t> </a:t>
            </a:r>
            <a:r>
              <a:rPr b="1" i="1" dirty="0">
                <a:latin typeface="Calibri"/>
                <a:cs typeface="Calibri"/>
              </a:rPr>
              <a:t>branch</a:t>
            </a:r>
            <a:r>
              <a:rPr b="1" i="1" spc="-70" dirty="0">
                <a:latin typeface="Calibri"/>
                <a:cs typeface="Calibri"/>
              </a:rPr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an</a:t>
            </a:r>
            <a:r>
              <a:rPr spc="-50" dirty="0"/>
              <a:t> 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independent</a:t>
            </a:r>
            <a:r>
              <a:rPr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line</a:t>
            </a:r>
            <a:r>
              <a:rPr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b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development</a:t>
            </a:r>
            <a:r>
              <a:rPr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/>
              <a:t>that</a:t>
            </a:r>
            <a:r>
              <a:rPr spc="-60" dirty="0"/>
              <a:t> </a:t>
            </a:r>
            <a:r>
              <a:rPr dirty="0"/>
              <a:t>allows</a:t>
            </a:r>
            <a:r>
              <a:rPr spc="-65" dirty="0"/>
              <a:t> </a:t>
            </a:r>
            <a:r>
              <a:rPr dirty="0"/>
              <a:t>users</a:t>
            </a:r>
            <a:r>
              <a:rPr spc="-5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spc="-20" dirty="0"/>
              <a:t>work </a:t>
            </a:r>
            <a:r>
              <a:rPr dirty="0"/>
              <a:t>on</a:t>
            </a:r>
            <a:r>
              <a:rPr spc="-60" dirty="0"/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new</a:t>
            </a:r>
            <a:r>
              <a:rPr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features</a:t>
            </a:r>
            <a:r>
              <a:rPr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bug</a:t>
            </a:r>
            <a:r>
              <a:rPr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fixes</a:t>
            </a:r>
            <a:r>
              <a:rPr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without</a:t>
            </a:r>
            <a:r>
              <a:rPr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affecting</a:t>
            </a:r>
            <a:r>
              <a:rPr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main</a:t>
            </a:r>
            <a:r>
              <a:rPr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codebase</a:t>
            </a:r>
            <a:r>
              <a:rPr spc="-10" dirty="0"/>
              <a:t>.</a:t>
            </a:r>
          </a:p>
          <a:p>
            <a:pPr marL="344805" marR="5080" indent="-28702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345440" algn="l"/>
              </a:tabLst>
            </a:pPr>
            <a:r>
              <a:rPr b="1" i="1" dirty="0">
                <a:latin typeface="Calibri"/>
                <a:cs typeface="Calibri"/>
              </a:rPr>
              <a:t>Merging</a:t>
            </a:r>
            <a:r>
              <a:rPr b="1" i="1" spc="-90" dirty="0">
                <a:latin typeface="Calibri"/>
                <a:cs typeface="Calibri"/>
              </a:rPr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</a:t>
            </a:r>
            <a:r>
              <a:rPr b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b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combining</a:t>
            </a:r>
            <a:r>
              <a:rPr b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changes</a:t>
            </a:r>
            <a:r>
              <a:rPr b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b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different</a:t>
            </a:r>
            <a:r>
              <a:rPr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branches</a:t>
            </a:r>
            <a:r>
              <a:rPr b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pc="-20" dirty="0"/>
              <a:t>into </a:t>
            </a:r>
            <a:r>
              <a:rPr dirty="0"/>
              <a:t>a</a:t>
            </a:r>
            <a:r>
              <a:rPr spc="-25" dirty="0"/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single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branch</a:t>
            </a:r>
            <a:r>
              <a:rPr spc="-1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0022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INSTALLATION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2261362"/>
            <a:ext cx="11541125" cy="37833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99085" marR="9525" indent="-287020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spc="-114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install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download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appropriate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installer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operating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official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website: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u="sng" spc="-25" dirty="0">
                <a:solidFill>
                  <a:srgbClr val="C573D2"/>
                </a:solidFill>
                <a:uFill>
                  <a:solidFill>
                    <a:srgbClr val="C573D2"/>
                  </a:solidFill>
                </a:uFill>
                <a:latin typeface="Calibri"/>
                <a:cs typeface="Calibri"/>
                <a:hlinkClick r:id="rId2"/>
              </a:rPr>
              <a:t>https://git-</a:t>
            </a:r>
            <a:r>
              <a:rPr sz="2600" u="sng" spc="-10" dirty="0">
                <a:solidFill>
                  <a:srgbClr val="C573D2"/>
                </a:solidFill>
                <a:uFill>
                  <a:solidFill>
                    <a:srgbClr val="C573D2"/>
                  </a:solidFill>
                </a:uFill>
                <a:latin typeface="Calibri"/>
                <a:cs typeface="Calibri"/>
                <a:hlinkClick r:id="rId2"/>
              </a:rPr>
              <a:t>scm.com/</a:t>
            </a:r>
            <a:endParaRPr sz="2600">
              <a:latin typeface="Calibri"/>
              <a:cs typeface="Calibri"/>
            </a:endParaRPr>
          </a:p>
          <a:p>
            <a:pPr marL="299085" marR="475615" indent="-287020">
              <a:lnSpc>
                <a:spcPts val="2500"/>
              </a:lnSpc>
              <a:spcBef>
                <a:spcPts val="975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dirty="0">
                <a:latin typeface="Calibri"/>
                <a:cs typeface="Calibri"/>
              </a:rPr>
              <a:t>Follow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installation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instructions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provided.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straightforward.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dirty="0">
                <a:latin typeface="Calibri"/>
                <a:cs typeface="Calibri"/>
              </a:rPr>
              <a:t>Windows,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make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install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64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standalone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installer.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Keep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defaults</a:t>
            </a:r>
            <a:endParaRPr sz="2600">
              <a:latin typeface="Calibri"/>
              <a:cs typeface="Calibri"/>
            </a:endParaRPr>
          </a:p>
          <a:p>
            <a:pPr marL="299085" marR="5080" indent="-287020">
              <a:lnSpc>
                <a:spcPct val="80000"/>
              </a:lnSpc>
              <a:spcBef>
                <a:spcPts val="1025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dirty="0">
                <a:latin typeface="Calibri"/>
                <a:cs typeface="Calibri"/>
              </a:rPr>
              <a:t>Linux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MacOS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pre-</a:t>
            </a:r>
            <a:r>
              <a:rPr sz="2600" dirty="0">
                <a:latin typeface="Calibri"/>
                <a:cs typeface="Calibri"/>
              </a:rPr>
              <a:t>installed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version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might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old,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can </a:t>
            </a:r>
            <a:r>
              <a:rPr sz="2600" dirty="0">
                <a:latin typeface="Calibri"/>
                <a:cs typeface="Calibri"/>
              </a:rPr>
              <a:t>still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install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latest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version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downloading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corresponding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installation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file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from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official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website: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u="sng" spc="-25" dirty="0">
                <a:solidFill>
                  <a:srgbClr val="C573D2"/>
                </a:solidFill>
                <a:uFill>
                  <a:solidFill>
                    <a:srgbClr val="C573D2"/>
                  </a:solidFill>
                </a:uFill>
                <a:latin typeface="Calibri"/>
                <a:cs typeface="Calibri"/>
                <a:hlinkClick r:id="rId2"/>
              </a:rPr>
              <a:t>https://git-</a:t>
            </a:r>
            <a:r>
              <a:rPr sz="2600" u="sng" spc="-10" dirty="0">
                <a:solidFill>
                  <a:srgbClr val="C573D2"/>
                </a:solidFill>
                <a:uFill>
                  <a:solidFill>
                    <a:srgbClr val="C573D2"/>
                  </a:solidFill>
                </a:uFill>
                <a:latin typeface="Calibri"/>
                <a:cs typeface="Calibri"/>
                <a:hlinkClick r:id="rId2"/>
              </a:rPr>
              <a:t>scm.com/</a:t>
            </a:r>
            <a:endParaRPr sz="2600">
              <a:latin typeface="Calibri"/>
              <a:cs typeface="Calibri"/>
            </a:endParaRPr>
          </a:p>
          <a:p>
            <a:pPr marL="299085" marR="372745" indent="-287020">
              <a:lnSpc>
                <a:spcPts val="2500"/>
              </a:lnSpc>
              <a:spcBef>
                <a:spcPts val="975"/>
              </a:spcBef>
              <a:buChar char="•"/>
              <a:tabLst>
                <a:tab pos="299085" algn="l"/>
                <a:tab pos="373380" algn="l"/>
              </a:tabLst>
            </a:pPr>
            <a:r>
              <a:rPr sz="2600" dirty="0">
                <a:latin typeface="Arial MT"/>
                <a:cs typeface="Arial MT"/>
              </a:rPr>
              <a:t>	</a:t>
            </a:r>
            <a:r>
              <a:rPr sz="2600" dirty="0">
                <a:latin typeface="Calibri"/>
                <a:cs typeface="Calibri"/>
              </a:rPr>
              <a:t>Once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installed,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verify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installation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opening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terminal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command </a:t>
            </a:r>
            <a:r>
              <a:rPr sz="2600" dirty="0">
                <a:latin typeface="Calibri"/>
                <a:cs typeface="Calibri"/>
              </a:rPr>
              <a:t>prompt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typing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terminal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(MacOS)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Command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Prompt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(Windows):</a:t>
            </a:r>
            <a:endParaRPr sz="2600">
              <a:latin typeface="Calibri"/>
              <a:cs typeface="Calibri"/>
            </a:endParaRPr>
          </a:p>
          <a:p>
            <a:pPr marL="2830830">
              <a:lnSpc>
                <a:spcPct val="100000"/>
              </a:lnSpc>
              <a:spcBef>
                <a:spcPts val="390"/>
              </a:spcBef>
            </a:pPr>
            <a:r>
              <a:rPr sz="2600" b="1" dirty="0">
                <a:latin typeface="Calibri"/>
                <a:cs typeface="Calibri"/>
              </a:rPr>
              <a:t>git </a:t>
            </a:r>
            <a:r>
              <a:rPr sz="2600" b="1" spc="-25" dirty="0">
                <a:latin typeface="Calibri"/>
                <a:cs typeface="Calibri"/>
              </a:rPr>
              <a:t>--</a:t>
            </a:r>
            <a:r>
              <a:rPr sz="2600" b="1" spc="-10" dirty="0">
                <a:latin typeface="Calibri"/>
                <a:cs typeface="Calibri"/>
              </a:rPr>
              <a:t>version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034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CONFIGURATION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2261362"/>
            <a:ext cx="11481435" cy="365696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99085" marR="1148715" indent="-287020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spc="-10" dirty="0">
                <a:latin typeface="Calibri"/>
                <a:cs typeface="Calibri"/>
              </a:rPr>
              <a:t>Before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it's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essential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configure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identity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config command.</a:t>
            </a:r>
            <a:endParaRPr sz="2600">
              <a:latin typeface="Calibri"/>
              <a:cs typeface="Calibri"/>
            </a:endParaRPr>
          </a:p>
          <a:p>
            <a:pPr marL="299085" marR="389890" indent="-287020">
              <a:lnSpc>
                <a:spcPts val="2500"/>
              </a:lnSpc>
              <a:spcBef>
                <a:spcPts val="975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dirty="0">
                <a:latin typeface="Calibri"/>
                <a:cs typeface="Calibri"/>
              </a:rPr>
              <a:t>This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setting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name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email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address,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associated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 </a:t>
            </a:r>
            <a:r>
              <a:rPr sz="2600" dirty="0">
                <a:latin typeface="Calibri"/>
                <a:cs typeface="Calibri"/>
              </a:rPr>
              <a:t>your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commits.</a:t>
            </a:r>
            <a:endParaRPr sz="2600">
              <a:latin typeface="Calibri"/>
              <a:cs typeface="Calibri"/>
            </a:endParaRPr>
          </a:p>
          <a:p>
            <a:pPr marL="299085" marR="845185" indent="-287020">
              <a:lnSpc>
                <a:spcPts val="2500"/>
              </a:lnSpc>
              <a:spcBef>
                <a:spcPts val="1000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spc="-10" dirty="0">
                <a:latin typeface="Calibri"/>
                <a:cs typeface="Calibri"/>
              </a:rPr>
              <a:t>Configuration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settings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stored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globally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entire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locally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specific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repository.</a:t>
            </a:r>
            <a:endParaRPr sz="2600">
              <a:latin typeface="Calibri"/>
              <a:cs typeface="Calibri"/>
            </a:endParaRPr>
          </a:p>
          <a:p>
            <a:pPr marL="299085" marR="5080" indent="-287020" algn="just">
              <a:lnSpc>
                <a:spcPct val="80000"/>
              </a:lnSpc>
              <a:spcBef>
                <a:spcPts val="1015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NB</a:t>
            </a:r>
            <a:r>
              <a:rPr sz="2600" b="1" dirty="0">
                <a:latin typeface="Calibri"/>
                <a:cs typeface="Calibri"/>
              </a:rPr>
              <a:t>: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clone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repository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GitHub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HTTPS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URL,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prompt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command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prompt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GitHub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username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password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first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time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requires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authentication,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cloning,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pushing,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or </a:t>
            </a:r>
            <a:r>
              <a:rPr sz="2600" dirty="0">
                <a:latin typeface="Calibri"/>
                <a:cs typeface="Calibri"/>
              </a:rPr>
              <a:t>pulling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GitHub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repository.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BASIC</a:t>
            </a:r>
            <a:r>
              <a:rPr sz="3200" spc="-45" dirty="0"/>
              <a:t> </a:t>
            </a:r>
            <a:r>
              <a:rPr sz="3200" dirty="0"/>
              <a:t>GIT</a:t>
            </a:r>
            <a:r>
              <a:rPr sz="3200" spc="-40" dirty="0"/>
              <a:t> </a:t>
            </a:r>
            <a:r>
              <a:rPr sz="3200" dirty="0"/>
              <a:t>COMMANDS</a:t>
            </a:r>
            <a:r>
              <a:rPr sz="3200" spc="-85" dirty="0"/>
              <a:t> </a:t>
            </a:r>
            <a:r>
              <a:rPr sz="3200" dirty="0"/>
              <a:t>-</a:t>
            </a:r>
            <a:r>
              <a:rPr sz="3200" spc="-50" dirty="0"/>
              <a:t> </a:t>
            </a:r>
            <a:r>
              <a:rPr sz="3200" dirty="0"/>
              <a:t>WINDOWS</a:t>
            </a:r>
            <a:r>
              <a:rPr sz="3200" spc="-45" dirty="0"/>
              <a:t> </a:t>
            </a:r>
            <a:r>
              <a:rPr sz="3200" dirty="0"/>
              <a:t>CMD</a:t>
            </a:r>
            <a:r>
              <a:rPr sz="3200" spc="-75" dirty="0"/>
              <a:t> </a:t>
            </a:r>
            <a:r>
              <a:rPr sz="3200" dirty="0"/>
              <a:t>AND</a:t>
            </a:r>
            <a:r>
              <a:rPr sz="3200" spc="-45" dirty="0"/>
              <a:t> </a:t>
            </a:r>
            <a:r>
              <a:rPr sz="3200" dirty="0"/>
              <a:t>MACOS</a:t>
            </a:r>
            <a:r>
              <a:rPr sz="3200" spc="-55" dirty="0"/>
              <a:t> </a:t>
            </a:r>
            <a:r>
              <a:rPr sz="3200" dirty="0"/>
              <a:t>TERMINAL</a:t>
            </a:r>
            <a:r>
              <a:rPr sz="3200" spc="-70" dirty="0"/>
              <a:t> </a:t>
            </a:r>
            <a:r>
              <a:rPr sz="3200" spc="-25" dirty="0"/>
              <a:t>(1)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00990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300990" algn="l"/>
              </a:tabLst>
            </a:pPr>
            <a:r>
              <a:rPr b="1" dirty="0">
                <a:latin typeface="Calibri"/>
                <a:cs typeface="Calibri"/>
              </a:rPr>
              <a:t>git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init: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dirty="0"/>
              <a:t>Initializes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new</a:t>
            </a:r>
            <a:r>
              <a:rPr spc="-40" dirty="0"/>
              <a:t> </a:t>
            </a:r>
            <a:r>
              <a:rPr dirty="0"/>
              <a:t>Git</a:t>
            </a:r>
            <a:r>
              <a:rPr spc="-65" dirty="0"/>
              <a:t> </a:t>
            </a:r>
            <a:r>
              <a:rPr spc="-10" dirty="0"/>
              <a:t>repository</a:t>
            </a:r>
            <a:r>
              <a:rPr spc="-4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current</a:t>
            </a:r>
            <a:r>
              <a:rPr spc="-40" dirty="0"/>
              <a:t> </a:t>
            </a:r>
            <a:r>
              <a:rPr spc="-10" dirty="0"/>
              <a:t>directory.</a:t>
            </a:r>
          </a:p>
          <a:p>
            <a:pPr marL="300990" marR="40640" indent="-287020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300990" algn="l"/>
              </a:tabLst>
            </a:pPr>
            <a:r>
              <a:rPr b="1" dirty="0">
                <a:latin typeface="Calibri"/>
                <a:cs typeface="Calibri"/>
              </a:rPr>
              <a:t>git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clone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&lt;repository-</a:t>
            </a:r>
            <a:r>
              <a:rPr b="1" dirty="0">
                <a:latin typeface="Calibri"/>
                <a:cs typeface="Calibri"/>
              </a:rPr>
              <a:t>url&gt;:</a:t>
            </a:r>
            <a:r>
              <a:rPr b="1" spc="10" dirty="0">
                <a:latin typeface="Calibri"/>
                <a:cs typeface="Calibri"/>
              </a:rPr>
              <a:t> </a:t>
            </a:r>
            <a:r>
              <a:rPr dirty="0"/>
              <a:t>Copies</a:t>
            </a:r>
            <a:r>
              <a:rPr spc="-40" dirty="0"/>
              <a:t> </a:t>
            </a:r>
            <a:r>
              <a:rPr dirty="0"/>
              <a:t>an</a:t>
            </a:r>
            <a:r>
              <a:rPr spc="-45" dirty="0"/>
              <a:t> </a:t>
            </a:r>
            <a:r>
              <a:rPr spc="-10" dirty="0"/>
              <a:t>existing</a:t>
            </a:r>
            <a:r>
              <a:rPr spc="-35" dirty="0"/>
              <a:t> </a:t>
            </a:r>
            <a:r>
              <a:rPr dirty="0"/>
              <a:t>Git</a:t>
            </a:r>
            <a:r>
              <a:rPr spc="-50" dirty="0"/>
              <a:t> </a:t>
            </a:r>
            <a:r>
              <a:rPr dirty="0"/>
              <a:t>repository</a:t>
            </a:r>
            <a:r>
              <a:rPr spc="-35" dirty="0"/>
              <a:t> </a:t>
            </a:r>
            <a:r>
              <a:rPr dirty="0"/>
              <a:t>from</a:t>
            </a:r>
            <a:r>
              <a:rPr spc="-3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10" dirty="0"/>
              <a:t>remote </a:t>
            </a:r>
            <a:r>
              <a:rPr dirty="0"/>
              <a:t>location</a:t>
            </a:r>
            <a:r>
              <a:rPr spc="-80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dirty="0"/>
              <a:t>your</a:t>
            </a:r>
            <a:r>
              <a:rPr spc="-65" dirty="0"/>
              <a:t> </a:t>
            </a:r>
            <a:r>
              <a:rPr dirty="0"/>
              <a:t>local</a:t>
            </a:r>
            <a:r>
              <a:rPr spc="-75" dirty="0"/>
              <a:t> </a:t>
            </a:r>
            <a:r>
              <a:rPr dirty="0"/>
              <a:t>machine.</a:t>
            </a:r>
            <a:r>
              <a:rPr spc="-6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assignment</a:t>
            </a:r>
            <a:r>
              <a:rPr spc="-60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each</a:t>
            </a:r>
            <a:r>
              <a:rPr spc="-85" dirty="0"/>
              <a:t> </a:t>
            </a:r>
            <a:r>
              <a:rPr dirty="0"/>
              <a:t>lab</a:t>
            </a:r>
            <a:r>
              <a:rPr spc="-80" dirty="0"/>
              <a:t> </a:t>
            </a:r>
            <a:r>
              <a:rPr dirty="0"/>
              <a:t>would</a:t>
            </a:r>
            <a:r>
              <a:rPr spc="-60" dirty="0"/>
              <a:t> </a:t>
            </a:r>
            <a:r>
              <a:rPr dirty="0"/>
              <a:t>create</a:t>
            </a:r>
            <a:r>
              <a:rPr spc="-100" dirty="0"/>
              <a:t> </a:t>
            </a:r>
            <a:r>
              <a:rPr spc="-25" dirty="0"/>
              <a:t>an </a:t>
            </a:r>
            <a:r>
              <a:rPr dirty="0"/>
              <a:t>empty</a:t>
            </a:r>
            <a:r>
              <a:rPr spc="-65" dirty="0"/>
              <a:t> </a:t>
            </a:r>
            <a:r>
              <a:rPr dirty="0"/>
              <a:t>GitHub</a:t>
            </a:r>
            <a:r>
              <a:rPr spc="-45" dirty="0"/>
              <a:t> </a:t>
            </a:r>
            <a:r>
              <a:rPr dirty="0"/>
              <a:t>repo</a:t>
            </a:r>
            <a:r>
              <a:rPr spc="-65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you</a:t>
            </a:r>
            <a:r>
              <a:rPr spc="-5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then</a:t>
            </a:r>
            <a:r>
              <a:rPr spc="-60" dirty="0"/>
              <a:t> </a:t>
            </a:r>
            <a:r>
              <a:rPr dirty="0"/>
              <a:t>you</a:t>
            </a:r>
            <a:r>
              <a:rPr spc="-65" dirty="0"/>
              <a:t> </a:t>
            </a:r>
            <a:r>
              <a:rPr dirty="0"/>
              <a:t>would</a:t>
            </a:r>
            <a:r>
              <a:rPr spc="-50" dirty="0"/>
              <a:t> </a:t>
            </a:r>
            <a:r>
              <a:rPr dirty="0"/>
              <a:t>use</a:t>
            </a:r>
            <a:r>
              <a:rPr spc="-60" dirty="0"/>
              <a:t> </a:t>
            </a:r>
            <a:r>
              <a:rPr dirty="0"/>
              <a:t>this</a:t>
            </a:r>
            <a:r>
              <a:rPr spc="-5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clone</a:t>
            </a:r>
            <a:r>
              <a:rPr spc="-60" dirty="0"/>
              <a:t> </a:t>
            </a:r>
            <a:r>
              <a:rPr dirty="0"/>
              <a:t>it</a:t>
            </a:r>
            <a:r>
              <a:rPr spc="-7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spc="-20" dirty="0"/>
              <a:t>your </a:t>
            </a:r>
            <a:r>
              <a:rPr dirty="0"/>
              <a:t>local</a:t>
            </a:r>
            <a:r>
              <a:rPr spc="-65" dirty="0"/>
              <a:t> </a:t>
            </a:r>
            <a:r>
              <a:rPr dirty="0"/>
              <a:t>machine.</a:t>
            </a:r>
            <a:r>
              <a:rPr spc="-45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labs,</a:t>
            </a:r>
            <a:r>
              <a:rPr spc="-45" dirty="0"/>
              <a:t> </a:t>
            </a:r>
            <a:r>
              <a:rPr dirty="0"/>
              <a:t>make</a:t>
            </a:r>
            <a:r>
              <a:rPr spc="-65" dirty="0"/>
              <a:t> </a:t>
            </a:r>
            <a:r>
              <a:rPr dirty="0"/>
              <a:t>sure</a:t>
            </a:r>
            <a:r>
              <a:rPr spc="-40" dirty="0"/>
              <a:t> </a:t>
            </a:r>
            <a:r>
              <a:rPr dirty="0"/>
              <a:t>you</a:t>
            </a:r>
            <a:r>
              <a:rPr spc="-60" dirty="0"/>
              <a:t> </a:t>
            </a:r>
            <a:r>
              <a:rPr dirty="0"/>
              <a:t>clone</a:t>
            </a:r>
            <a:r>
              <a:rPr spc="-6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HTTPS</a:t>
            </a:r>
            <a:r>
              <a:rPr spc="-40" dirty="0"/>
              <a:t> </a:t>
            </a:r>
            <a:r>
              <a:rPr dirty="0"/>
              <a:t>link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repo.</a:t>
            </a:r>
            <a:r>
              <a:rPr spc="-55" dirty="0"/>
              <a:t> </a:t>
            </a:r>
            <a:r>
              <a:rPr spc="-25" dirty="0"/>
              <a:t>You </a:t>
            </a:r>
            <a:r>
              <a:rPr dirty="0"/>
              <a:t>will</a:t>
            </a:r>
            <a:r>
              <a:rPr spc="-55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dirty="0"/>
              <a:t>asked</a:t>
            </a:r>
            <a:r>
              <a:rPr spc="-5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authenticate.</a:t>
            </a:r>
          </a:p>
          <a:p>
            <a:pPr marL="300990" marR="5080" indent="-287020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300990" algn="l"/>
              </a:tabLst>
            </a:pPr>
            <a:r>
              <a:rPr b="1" dirty="0">
                <a:latin typeface="Calibri"/>
                <a:cs typeface="Calibri"/>
              </a:rPr>
              <a:t>git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add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&lt;file&gt;: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dirty="0"/>
              <a:t>Adds</a:t>
            </a:r>
            <a:r>
              <a:rPr spc="-40" dirty="0"/>
              <a:t> </a:t>
            </a:r>
            <a:r>
              <a:rPr dirty="0"/>
              <a:t>file</a:t>
            </a:r>
            <a:r>
              <a:rPr spc="-65" dirty="0"/>
              <a:t> </a:t>
            </a:r>
            <a:r>
              <a:rPr dirty="0"/>
              <a:t>changes</a:t>
            </a:r>
            <a:r>
              <a:rPr spc="-6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staging</a:t>
            </a:r>
            <a:r>
              <a:rPr spc="-55" dirty="0"/>
              <a:t> </a:t>
            </a:r>
            <a:r>
              <a:rPr dirty="0"/>
              <a:t>area,</a:t>
            </a:r>
            <a:r>
              <a:rPr spc="-65" dirty="0"/>
              <a:t> </a:t>
            </a:r>
            <a:r>
              <a:rPr dirty="0"/>
              <a:t>preparing</a:t>
            </a:r>
            <a:r>
              <a:rPr spc="-45" dirty="0"/>
              <a:t> </a:t>
            </a:r>
            <a:r>
              <a:rPr dirty="0"/>
              <a:t>them</a:t>
            </a:r>
            <a:r>
              <a:rPr spc="-6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spc="-25" dirty="0"/>
              <a:t>the </a:t>
            </a:r>
            <a:r>
              <a:rPr dirty="0"/>
              <a:t>next</a:t>
            </a:r>
            <a:r>
              <a:rPr spc="-90" dirty="0"/>
              <a:t> </a:t>
            </a:r>
            <a:r>
              <a:rPr spc="-10" dirty="0"/>
              <a:t>commit.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BASIC</a:t>
            </a:r>
            <a:r>
              <a:rPr sz="3200" spc="-45" dirty="0"/>
              <a:t> </a:t>
            </a:r>
            <a:r>
              <a:rPr sz="3200" dirty="0"/>
              <a:t>GIT</a:t>
            </a:r>
            <a:r>
              <a:rPr sz="3200" spc="-40" dirty="0"/>
              <a:t> </a:t>
            </a:r>
            <a:r>
              <a:rPr sz="3200" dirty="0"/>
              <a:t>COMMANDS</a:t>
            </a:r>
            <a:r>
              <a:rPr sz="3200" spc="-85" dirty="0"/>
              <a:t> </a:t>
            </a:r>
            <a:r>
              <a:rPr sz="3200" dirty="0"/>
              <a:t>-</a:t>
            </a:r>
            <a:r>
              <a:rPr sz="3200" spc="-50" dirty="0"/>
              <a:t> </a:t>
            </a:r>
            <a:r>
              <a:rPr sz="3200" dirty="0"/>
              <a:t>WINDOWS</a:t>
            </a:r>
            <a:r>
              <a:rPr sz="3200" spc="-45" dirty="0"/>
              <a:t> </a:t>
            </a:r>
            <a:r>
              <a:rPr sz="3200" dirty="0"/>
              <a:t>CMD</a:t>
            </a:r>
            <a:r>
              <a:rPr sz="3200" spc="-75" dirty="0"/>
              <a:t> </a:t>
            </a:r>
            <a:r>
              <a:rPr sz="3200" dirty="0"/>
              <a:t>AND</a:t>
            </a:r>
            <a:r>
              <a:rPr sz="3200" spc="-45" dirty="0"/>
              <a:t> </a:t>
            </a:r>
            <a:r>
              <a:rPr sz="3200" dirty="0"/>
              <a:t>MACOS</a:t>
            </a:r>
            <a:r>
              <a:rPr sz="3200" spc="-55" dirty="0"/>
              <a:t> </a:t>
            </a:r>
            <a:r>
              <a:rPr sz="3200" dirty="0"/>
              <a:t>TERMINAL</a:t>
            </a:r>
            <a:r>
              <a:rPr sz="3200" spc="-70" dirty="0"/>
              <a:t> </a:t>
            </a:r>
            <a:r>
              <a:rPr sz="3200" spc="-25" dirty="0"/>
              <a:t>(2)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19480" y="2331466"/>
            <a:ext cx="10988040" cy="2840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132715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b="1" dirty="0">
                <a:latin typeface="Calibri"/>
                <a:cs typeface="Calibri"/>
              </a:rPr>
              <a:t>git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commit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-</a:t>
            </a:r>
            <a:r>
              <a:rPr sz="2800" b="1" dirty="0">
                <a:latin typeface="Calibri"/>
                <a:cs typeface="Calibri"/>
              </a:rPr>
              <a:t>m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"message":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Commits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staged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repository </a:t>
            </a:r>
            <a:r>
              <a:rPr sz="2800" dirty="0">
                <a:latin typeface="Calibri"/>
                <a:cs typeface="Calibri"/>
              </a:rPr>
              <a:t>along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descriptive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message.</a:t>
            </a:r>
            <a:endParaRPr sz="2800">
              <a:latin typeface="Calibri"/>
              <a:cs typeface="Calibri"/>
            </a:endParaRPr>
          </a:p>
          <a:p>
            <a:pPr marL="299085" marR="204470" indent="-28702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b="1" dirty="0">
                <a:latin typeface="Calibri"/>
                <a:cs typeface="Calibri"/>
              </a:rPr>
              <a:t>git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status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Displays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current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directory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staging area.</a:t>
            </a:r>
            <a:endParaRPr sz="28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b="1" dirty="0">
                <a:latin typeface="Calibri"/>
                <a:cs typeface="Calibri"/>
              </a:rPr>
              <a:t>git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log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chronological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commits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repository.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very </a:t>
            </a:r>
            <a:r>
              <a:rPr sz="2800" dirty="0">
                <a:latin typeface="Calibri"/>
                <a:cs typeface="Calibri"/>
              </a:rPr>
              <a:t>useful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diagnosing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things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BASIC</a:t>
            </a:r>
            <a:r>
              <a:rPr sz="3200" spc="-45" dirty="0"/>
              <a:t> </a:t>
            </a:r>
            <a:r>
              <a:rPr sz="3200" dirty="0"/>
              <a:t>GIT</a:t>
            </a:r>
            <a:r>
              <a:rPr sz="3200" spc="-40" dirty="0"/>
              <a:t> </a:t>
            </a:r>
            <a:r>
              <a:rPr sz="3200" dirty="0"/>
              <a:t>COMMANDS</a:t>
            </a:r>
            <a:r>
              <a:rPr sz="3200" spc="-85" dirty="0"/>
              <a:t> </a:t>
            </a:r>
            <a:r>
              <a:rPr sz="3200" dirty="0"/>
              <a:t>-</a:t>
            </a:r>
            <a:r>
              <a:rPr sz="3200" spc="-50" dirty="0"/>
              <a:t> </a:t>
            </a:r>
            <a:r>
              <a:rPr sz="3200" dirty="0"/>
              <a:t>WINDOWS</a:t>
            </a:r>
            <a:r>
              <a:rPr sz="3200" spc="-45" dirty="0"/>
              <a:t> </a:t>
            </a:r>
            <a:r>
              <a:rPr sz="3200" dirty="0"/>
              <a:t>CMD</a:t>
            </a:r>
            <a:r>
              <a:rPr sz="3200" spc="-75" dirty="0"/>
              <a:t> </a:t>
            </a:r>
            <a:r>
              <a:rPr sz="3200" dirty="0"/>
              <a:t>AND</a:t>
            </a:r>
            <a:r>
              <a:rPr sz="3200" spc="-45" dirty="0"/>
              <a:t> </a:t>
            </a:r>
            <a:r>
              <a:rPr sz="3200" dirty="0"/>
              <a:t>MACOS</a:t>
            </a:r>
            <a:r>
              <a:rPr sz="3200" spc="-55" dirty="0"/>
              <a:t> </a:t>
            </a:r>
            <a:r>
              <a:rPr sz="3200" dirty="0"/>
              <a:t>TERMINAL</a:t>
            </a:r>
            <a:r>
              <a:rPr sz="3200" spc="-70" dirty="0"/>
              <a:t> </a:t>
            </a:r>
            <a:r>
              <a:rPr sz="3200" spc="-25" dirty="0"/>
              <a:t>(3)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19480" y="2203255"/>
            <a:ext cx="10794365" cy="254190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b="1" dirty="0">
                <a:latin typeface="Calibri"/>
                <a:cs typeface="Calibri"/>
              </a:rPr>
              <a:t>git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branch: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creates,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deletes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branches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repository.</a:t>
            </a:r>
            <a:endParaRPr sz="28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b="1" dirty="0">
                <a:latin typeface="Calibri"/>
                <a:cs typeface="Calibri"/>
              </a:rPr>
              <a:t>git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checkout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30" dirty="0">
                <a:latin typeface="Calibri"/>
                <a:cs typeface="Calibri"/>
              </a:rPr>
              <a:t>&lt;branch-</a:t>
            </a:r>
            <a:r>
              <a:rPr sz="2800" b="1" dirty="0">
                <a:latin typeface="Calibri"/>
                <a:cs typeface="Calibri"/>
              </a:rPr>
              <a:t>name&gt;: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Switches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branch,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updating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directory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contents.</a:t>
            </a:r>
            <a:endParaRPr sz="2800">
              <a:latin typeface="Calibri"/>
              <a:cs typeface="Calibri"/>
            </a:endParaRPr>
          </a:p>
          <a:p>
            <a:pPr marL="299085" marR="27940" indent="-28702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b="1" dirty="0">
                <a:latin typeface="Calibri"/>
                <a:cs typeface="Calibri"/>
              </a:rPr>
              <a:t>git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merge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30" dirty="0">
                <a:latin typeface="Calibri"/>
                <a:cs typeface="Calibri"/>
              </a:rPr>
              <a:t>&lt;branch-</a:t>
            </a:r>
            <a:r>
              <a:rPr sz="2800" b="1" dirty="0">
                <a:latin typeface="Calibri"/>
                <a:cs typeface="Calibri"/>
              </a:rPr>
              <a:t>name&gt;: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Integrates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branch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current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branch.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BASIC</a:t>
            </a:r>
            <a:r>
              <a:rPr sz="3200" spc="-45" dirty="0"/>
              <a:t> </a:t>
            </a:r>
            <a:r>
              <a:rPr sz="3200" dirty="0"/>
              <a:t>GIT</a:t>
            </a:r>
            <a:r>
              <a:rPr sz="3200" spc="-40" dirty="0"/>
              <a:t> </a:t>
            </a:r>
            <a:r>
              <a:rPr sz="3200" dirty="0"/>
              <a:t>COMMANDS</a:t>
            </a:r>
            <a:r>
              <a:rPr sz="3200" spc="-85" dirty="0"/>
              <a:t> </a:t>
            </a:r>
            <a:r>
              <a:rPr sz="3200" dirty="0"/>
              <a:t>-</a:t>
            </a:r>
            <a:r>
              <a:rPr sz="3200" spc="-50" dirty="0"/>
              <a:t> </a:t>
            </a:r>
            <a:r>
              <a:rPr sz="3200" dirty="0"/>
              <a:t>WINDOWS</a:t>
            </a:r>
            <a:r>
              <a:rPr sz="3200" spc="-45" dirty="0"/>
              <a:t> </a:t>
            </a:r>
            <a:r>
              <a:rPr sz="3200" dirty="0"/>
              <a:t>CMD</a:t>
            </a:r>
            <a:r>
              <a:rPr sz="3200" spc="-75" dirty="0"/>
              <a:t> </a:t>
            </a:r>
            <a:r>
              <a:rPr sz="3200" dirty="0"/>
              <a:t>AND</a:t>
            </a:r>
            <a:r>
              <a:rPr sz="3200" spc="-45" dirty="0"/>
              <a:t> </a:t>
            </a:r>
            <a:r>
              <a:rPr sz="3200" dirty="0"/>
              <a:t>MACOS</a:t>
            </a:r>
            <a:r>
              <a:rPr sz="3200" spc="-55" dirty="0"/>
              <a:t> </a:t>
            </a:r>
            <a:r>
              <a:rPr sz="3200" dirty="0"/>
              <a:t>TERMINAL</a:t>
            </a:r>
            <a:r>
              <a:rPr sz="3200" spc="-70" dirty="0"/>
              <a:t> </a:t>
            </a:r>
            <a:r>
              <a:rPr sz="3200" spc="-25" dirty="0"/>
              <a:t>(3)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65252" y="2331466"/>
            <a:ext cx="11166475" cy="143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b="1" dirty="0">
                <a:latin typeface="Calibri"/>
                <a:cs typeface="Calibri"/>
              </a:rPr>
              <a:t>git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pull: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Fetches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remote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repository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merges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current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branch.</a:t>
            </a:r>
            <a:endParaRPr sz="2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b="1" dirty="0">
                <a:latin typeface="Calibri"/>
                <a:cs typeface="Calibri"/>
              </a:rPr>
              <a:t>git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push: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Uploads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local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branch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commits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remote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repository.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573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815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MT</vt:lpstr>
      <vt:lpstr>Calibri</vt:lpstr>
      <vt:lpstr>Calibri Light</vt:lpstr>
      <vt:lpstr>Office Theme</vt:lpstr>
      <vt:lpstr>EECE 350</vt:lpstr>
      <vt:lpstr>SOURCE CONTROL SYSTEMS</vt:lpstr>
      <vt:lpstr>WHAT IS GIT?</vt:lpstr>
      <vt:lpstr>GIT REPOSITORY (OR REPO)</vt:lpstr>
      <vt:lpstr>INSTALLATION</vt:lpstr>
      <vt:lpstr>CONFIGURATION</vt:lpstr>
      <vt:lpstr>BASIC GIT COMMANDS - WINDOWS CMD AND MACOS TERMINAL (1)</vt:lpstr>
      <vt:lpstr>BASIC GIT COMMANDS - WINDOWS CMD AND MACOS TERMINAL (2)</vt:lpstr>
      <vt:lpstr>BASIC GIT COMMANDS - WINDOWS CMD AND MACOS TERMINAL (3)</vt:lpstr>
      <vt:lpstr>BASIC GIT COMMANDS - WINDOWS CMD AND MACOS TERMINAL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EECE 430L</dc:title>
  <dc:creator>Mohamad Chehab</dc:creator>
  <cp:lastModifiedBy>Kassem Yassine (Student)</cp:lastModifiedBy>
  <cp:revision>4</cp:revision>
  <dcterms:created xsi:type="dcterms:W3CDTF">2026-02-05T12:15:29Z</dcterms:created>
  <dcterms:modified xsi:type="dcterms:W3CDTF">2026-02-06T17:31:43Z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2024-02-07T00:00:00Z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2026-02-05T00:00:00Z</vt:filetime>
  </property>
  <property fmtid="{D5CDD505-2E9C-101B-9397-08002B2CF9AE}" pid="5" name="Producer">
    <vt:lpwstr>Microsoft® PowerPoint® LTSC</vt:lpwstr>
  </property>
</Properties>
</file>